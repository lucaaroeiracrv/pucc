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04a24783e24a1f" /><Relationship Type="http://schemas.openxmlformats.org/officeDocument/2006/relationships/extended-properties" Target="/docProps/app.xml" Id="Rd1654b2767ca42a3" /><Relationship Type="http://schemas.openxmlformats.org/officeDocument/2006/relationships/officeDocument" Target="/ppt/presentation.xml" Id="Rd79fb21f7c8844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f555ebd0f04064"/>
  </p:sldMasterIdLst>
  <p:notesMasterIdLst>
    <p:notesMasterId xmlns:r="http://schemas.openxmlformats.org/officeDocument/2006/relationships" r:id="R3e14df1da48841d8"/>
  </p:notesMasterIdLst>
  <p:sldIdLst>
    <p:sldId xmlns:r="http://schemas.openxmlformats.org/officeDocument/2006/relationships" id="256" r:id="Rf823363fd0d54953"/>
    <p:sldId xmlns:r="http://schemas.openxmlformats.org/officeDocument/2006/relationships" id="257" r:id="Ra005cb203506406e"/>
    <p:sldId xmlns:r="http://schemas.openxmlformats.org/officeDocument/2006/relationships" id="258" r:id="Rf8de3abb02014127"/>
    <p:sldId xmlns:r="http://schemas.openxmlformats.org/officeDocument/2006/relationships" id="259" r:id="Rcf45e7768e974959"/>
    <p:sldId xmlns:r="http://schemas.openxmlformats.org/officeDocument/2006/relationships" id="260" r:id="Rf9ffc586d0624de0"/>
    <p:sldId xmlns:r="http://schemas.openxmlformats.org/officeDocument/2006/relationships" id="261" r:id="Rec30e3ee77cf491e"/>
    <p:sldId xmlns:r="http://schemas.openxmlformats.org/officeDocument/2006/relationships" id="262" r:id="R1458414f0fa948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654a21900f4c09" /><Relationship Type="http://schemas.openxmlformats.org/officeDocument/2006/relationships/slideMaster" Target="/ppt/slideMasters/slideMaster1.xml" Id="R65f555ebd0f04064" /><Relationship Type="http://schemas.openxmlformats.org/officeDocument/2006/relationships/notesMaster" Target="/ppt/notesMasters/notesMaster1.xml" Id="R3e14df1da48841d8" /><Relationship Type="http://schemas.openxmlformats.org/officeDocument/2006/relationships/presProps" Target="/ppt/presProps.xml" Id="Rca4e322ed24744e0" /><Relationship Type="http://schemas.openxmlformats.org/officeDocument/2006/relationships/tableStyles" Target="/ppt/tableStyles.xml" Id="R1b8014f3e2754519" /><Relationship Type="http://schemas.openxmlformats.org/officeDocument/2006/relationships/slide" Target="/ppt/slides/slide1.xml" Id="Rf823363fd0d54953" /><Relationship Type="http://schemas.openxmlformats.org/officeDocument/2006/relationships/slide" Target="/ppt/slides/slide2.xml" Id="Ra005cb203506406e" /><Relationship Type="http://schemas.openxmlformats.org/officeDocument/2006/relationships/slide" Target="/ppt/slides/slide3.xml" Id="Rf8de3abb02014127" /><Relationship Type="http://schemas.openxmlformats.org/officeDocument/2006/relationships/slide" Target="/ppt/slides/slide4.xml" Id="Rcf45e7768e974959" /><Relationship Type="http://schemas.openxmlformats.org/officeDocument/2006/relationships/slide" Target="/ppt/slides/slide5.xml" Id="Rf9ffc586d0624de0" /><Relationship Type="http://schemas.openxmlformats.org/officeDocument/2006/relationships/slide" Target="/ppt/slides/slide6.xml" Id="Rec30e3ee77cf491e" /><Relationship Type="http://schemas.openxmlformats.org/officeDocument/2006/relationships/slide" Target="/ppt/slides/slide7.xml" Id="R1458414f0fa948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13f2c1a3a84a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6fdcd93c2e4951" /><Relationship Type="http://schemas.openxmlformats.org/officeDocument/2006/relationships/notesMaster" Target="/ppt/notesMasters/notesMaster1.xml" Id="R50bbcb8c01d949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58a2b25bd147df" /><Relationship Type="http://schemas.openxmlformats.org/officeDocument/2006/relationships/notesMaster" Target="/ppt/notesMasters/notesMaster1.xml" Id="Rbbd711fd44e44f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0b7f0d42bb4184" /><Relationship Type="http://schemas.openxmlformats.org/officeDocument/2006/relationships/notesMaster" Target="/ppt/notesMasters/notesMaster1.xml" Id="R769d7732be644b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9035596f264301" /><Relationship Type="http://schemas.openxmlformats.org/officeDocument/2006/relationships/notesMaster" Target="/ppt/notesMasters/notesMaster1.xml" Id="R3ee9879c1cba47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7a66f2c2934576" /><Relationship Type="http://schemas.openxmlformats.org/officeDocument/2006/relationships/notesMaster" Target="/ppt/notesMasters/notesMaster1.xml" Id="Rc67bf27e87cf4f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50bb9d965d41ed" /><Relationship Type="http://schemas.openxmlformats.org/officeDocument/2006/relationships/notesMaster" Target="/ppt/notesMasters/notesMaster1.xml" Id="R805e6888a4af40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e722cc31c14f73" /><Relationship Type="http://schemas.openxmlformats.org/officeDocument/2006/relationships/notesMaster" Target="/ppt/notesMasters/notesMaster1.xml" Id="R3709379d1ebf4b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nome do curso, da instituição e os integrantes conforme o trabalho original. O projeto registra um fluxo acadêmico de atendimento. Fonte: README.md e docs/ARQUITETURA.md.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o objetivo mostrado nos cartões: integrar cadastro, atendimento, triagem, consulta, medicações e encerramento. Não atribuir ao protótipo melhorias de produtividade não medidas. Fonte: cartões 23 a 42 e código dos módulos em src/.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a sequência implementada. A medicação é opcional nesta proposta. A classificação é manual e a fila segue abertura, decisões a confrontar com os requisitos completos. Fontes: docs/ARQUITETURA.md e src/atendimentos, src/triagem, src/consultas, src/medicacoes.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Demonstrar que esconder uma opção não basta: os testes fazem pedidos diretamente às APIs com perfil incompatível. A identidade registrada vem da sessão. Fontes: src/auth/permissoes.js, src/http/clinicas.js e tests/integracao/perfis.test.js.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o caminho do pedido e o vínculo pelo atendimento. Fontes do código: src/servidor.js, src/config/banco.js, src/shared/dominio.js e database/. Fontes técnicas: https://nodejs.org/api/crypto.html ; https://sidorares.github.io/node-mysql2/pt-BR/docs ; https://dev.mysql.com/doc/refman/8.0/en/innodb-transaction-model.html ; https://dev.mysql.com/doc/refman/8.0/en/create-table-check-constraints.html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Alternar as contas recepcao, enfermagem e medico. As contas de teste novas usam a senha Pi2@2026!. No registro de medicação, digitar somente textos fictícios e não fazer recomendação clínica. Fonte: README.md e fluxo verificado na tarefa 50. Ver roteiro da tarefa 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números descrevem a versão integrada, não um estudo com usuários reais. O relatório detalha o ambiente Linux, Node.js 24.22.1 e MySQL 8.0.46. Os testes não garantem ausência de qualquer defeito. Fonte: docs/VERIFICACAO.md. Concluir retomando o objetivo de relacionar os registros de uma mesma visita.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11c71f44744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30a8464604c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d34e3df0348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5a9af081243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eeda65c9846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e4b586a7340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034D0B-42A3-47AE-BEA8-51DE1C20F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C2D3A1-BEF8-416B-B5AB-59EAD6CA56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8C85CB-D437-4CE1-BAD5-4EFE2E0C8A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2DAB1E-0274-4B53-BA7A-5547A1AD2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3D31E7-AA9C-4C56-8D0E-0ED1B3B1AF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1B219A-A0E3-45AF-AE74-EF79D58E26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C6C887-F8E8-4884-91F0-27CD5BE91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919016-F967-4AA9-93FC-1BEA374478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24CD88-947F-4FD4-92E7-952178448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46475F-4DF6-48DC-90DF-912CE4FB3F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176a8cc20f4294" /><Relationship Type="http://schemas.openxmlformats.org/officeDocument/2006/relationships/slideLayout" Target="/ppt/slideLayouts/slideLayout1.xml" Id="R4ba9c01cc8724a23" /><Relationship Type="http://schemas.openxmlformats.org/officeDocument/2006/relationships/slideLayout" Target="/ppt/slideLayouts/slideLayout2.xml" Id="Raa41c059b36e4ab5" /><Relationship Type="http://schemas.openxmlformats.org/officeDocument/2006/relationships/slideLayout" Target="/ppt/slideLayouts/slideLayout3.xml" Id="Rd3dcfc3a9307449a" /><Relationship Type="http://schemas.openxmlformats.org/officeDocument/2006/relationships/slideLayout" Target="/ppt/slideLayouts/slideLayout4.xml" Id="R4c1185d82d0e497a" /><Relationship Type="http://schemas.openxmlformats.org/officeDocument/2006/relationships/slideLayout" Target="/ppt/slideLayouts/slideLayout5.xml" Id="R3d920cd796f54c3e" /><Relationship Type="http://schemas.openxmlformats.org/officeDocument/2006/relationships/slideLayout" Target="/ppt/slideLayouts/slideLayout6.xml" Id="R194ece57d8af48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a9c01cc8724a23"/>
    <p:sldLayoutId xmlns:r="http://schemas.openxmlformats.org/officeDocument/2006/relationships" id="2147483650" r:id="Raa41c059b36e4ab5"/>
    <p:sldLayoutId xmlns:r="http://schemas.openxmlformats.org/officeDocument/2006/relationships" id="2147483651" r:id="Rd3dcfc3a9307449a"/>
    <p:sldLayoutId xmlns:r="http://schemas.openxmlformats.org/officeDocument/2006/relationships" id="2147483652" r:id="R4c1185d82d0e497a"/>
    <p:sldLayoutId xmlns:r="http://schemas.openxmlformats.org/officeDocument/2006/relationships" id="2147483653" r:id="R3d920cd796f54c3e"/>
    <p:sldLayoutId xmlns:r="http://schemas.openxmlformats.org/officeDocument/2006/relationships" id="2147483654" r:id="R194ece57d8af48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383a4cb3645f7" /><Relationship Type="http://schemas.openxmlformats.org/officeDocument/2006/relationships/notesSlide" Target="/ppt/notesSlides/notesSlide1.xml" Id="R0ad7dc0dd2fe4f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3dd35d5c34415" /><Relationship Type="http://schemas.openxmlformats.org/officeDocument/2006/relationships/notesSlide" Target="/ppt/notesSlides/notesSlide2.xml" Id="R08e8c75960c543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2aaf0a5e7d437f" /><Relationship Type="http://schemas.openxmlformats.org/officeDocument/2006/relationships/notesSlide" Target="/ppt/notesSlides/notesSlide3.xml" Id="R65497ddb1e7840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7a51985e2408e" /><Relationship Type="http://schemas.openxmlformats.org/officeDocument/2006/relationships/notesSlide" Target="/ppt/notesSlides/notesSlide4.xml" Id="Rac4bd808ab064d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0d3af21fbf45d4" /><Relationship Type="http://schemas.openxmlformats.org/officeDocument/2006/relationships/notesSlide" Target="/ppt/notesSlides/notesSlide5.xml" Id="R61fb1bcefea546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b990b59294d62" /><Relationship Type="http://schemas.openxmlformats.org/officeDocument/2006/relationships/notesSlide" Target="/ppt/notesSlides/notesSlide6.xml" Id="R3ee0088419fd4e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05a72edced43c9" /><Relationship Type="http://schemas.openxmlformats.org/officeDocument/2006/relationships/notesSlide" Target="/ppt/notesSlides/notesSlide7.xml" Id="Rbfda8c0b5a464a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ulo">
            <a:extLst xmlns:a="http://schemas.openxmlformats.org/drawingml/2006/main">
              <a:ext uri="{FF2B5EF4-FFF2-40B4-BE49-F238E27FC236}">
                <a16:creationId xmlns:a16="http://schemas.microsoft.com/office/drawing/2014/main" id="{1573F3FD-4A1C-40B5-A0BD-B3B6481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PI2</a:t>
            </a:r>
          </a:p>
        </p:txBody>
      </p:sp>
      <p:sp>
        <p:nvSpPr>
          <p:cNvPr id="2" name="pagina">
            <a:extLst xmlns:a="http://schemas.openxmlformats.org/drawingml/2006/main">
              <a:ext uri="{FF2B5EF4-FFF2-40B4-BE49-F238E27FC236}">
                <a16:creationId xmlns:a16="http://schemas.microsoft.com/office/drawing/2014/main" id="{E3E16EC4-BE4F-4D94-B0CC-6DCD1E1F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865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capa">
            <a:extLst xmlns:a="http://schemas.openxmlformats.org/drawingml/2006/main">
              <a:ext uri="{FF2B5EF4-FFF2-40B4-BE49-F238E27FC236}">
                <a16:creationId xmlns:a16="http://schemas.microsoft.com/office/drawing/2014/main" id="{7C30C862-F60E-478F-A5DD-6BFE6D4D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Sistema de</a:t>
            </a:r>
          </a:p>
          <a:p xmlns:a="http://schemas.openxmlformats.org/drawingml/2006/main">
            <a:pPr>
              <a:def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atendimento</a:t>
            </a:r>
          </a:p>
        </p:txBody>
      </p:sp>
      <p:sp>
        <p:nvSpPr>
          <p:cNvPr id="4" name="subtitulo">
            <a:extLst xmlns:a="http://schemas.openxmlformats.org/drawingml/2006/main">
              <a:ext uri="{FF2B5EF4-FFF2-40B4-BE49-F238E27FC236}">
                <a16:creationId xmlns:a16="http://schemas.microsoft.com/office/drawing/2014/main" id="{D600CA2E-4AB5-4042-B597-7F297D09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Demonstração acadêmica com dados fictícios</a:t>
            </a:r>
          </a:p>
        </p:txBody>
      </p:sp>
    </p:spTree>
    <p:extLst>
      <p:ext uri="{BB962C8B-B14F-4D97-AF65-F5344CB8AC3E}">
        <p14:creationId xmlns:p14="http://schemas.microsoft.com/office/powerpoint/2010/main" val="208608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ulo">
            <a:extLst xmlns:a="http://schemas.openxmlformats.org/drawingml/2006/main">
              <a:ext uri="{FF2B5EF4-FFF2-40B4-BE49-F238E27FC236}">
                <a16:creationId xmlns:a16="http://schemas.microsoft.com/office/drawing/2014/main" id="{6FC7170C-E89D-4B74-A012-50AC2AAB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Problema e objetivo</a:t>
            </a:r>
          </a:p>
        </p:txBody>
      </p:sp>
      <p:sp>
        <p:nvSpPr>
          <p:cNvPr id="2" name="pagina">
            <a:extLst xmlns:a="http://schemas.openxmlformats.org/drawingml/2006/main">
              <a:ext uri="{FF2B5EF4-FFF2-40B4-BE49-F238E27FC236}">
                <a16:creationId xmlns:a16="http://schemas.microsoft.com/office/drawing/2014/main" id="{112C5DD3-C353-49EC-A100-DF03ACF3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865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contexto">
            <a:extLst xmlns:a="http://schemas.openxmlformats.org/drawingml/2006/main">
              <a:ext uri="{FF2B5EF4-FFF2-40B4-BE49-F238E27FC236}">
                <a16:creationId xmlns:a16="http://schemas.microsoft.com/office/drawing/2014/main" id="{6917DC14-29A7-41CB-A410-64A646A4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28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Acompanhar as etapas de uma mesma visita</a:t>
            </a:r>
          </a:p>
        </p:txBody>
      </p:sp>
      <p:sp>
        <p:nvSpPr>
          <p:cNvPr id="4" name="objetivo">
            <a:extLst xmlns:a="http://schemas.openxmlformats.org/drawingml/2006/main">
              <a:ext uri="{FF2B5EF4-FFF2-40B4-BE49-F238E27FC236}">
                <a16:creationId xmlns:a16="http://schemas.microsoft.com/office/drawing/2014/main" id="{B702A8DF-EA1D-44DD-AF90-97E1AA5E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Relacionar o cadastro do paciente aos registros da recepção, da enfermagem e do médico.</a:t>
            </a:r>
          </a:p>
        </p:txBody>
      </p:sp>
      <p:sp>
        <p:nvSpPr>
          <p:cNvPr id="5" name="limite">
            <a:extLst xmlns:a="http://schemas.openxmlformats.org/drawingml/2006/main">
              <a:ext uri="{FF2B5EF4-FFF2-40B4-BE49-F238E27FC236}">
                <a16:creationId xmlns:a16="http://schemas.microsoft.com/office/drawing/2014/main" id="{497E1540-7EC0-40EB-A137-9BE472F4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O protótipo demonstra o registro do fluxo. Os testes não mediram tempo de espera ou resultados assistenciais.</a:t>
            </a:r>
          </a:p>
        </p:txBody>
      </p:sp>
    </p:spTree>
    <p:extLst>
      <p:ext uri="{BB962C8B-B14F-4D97-AF65-F5344CB8AC3E}">
        <p14:creationId xmlns:p14="http://schemas.microsoft.com/office/powerpoint/2010/main" val="52530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A1FA2-08E1-479E-A8BD-5E3254ED80B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591550" y="31194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5C83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5DBBC-F888-4A8C-B822-E74EA6C18C3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29300" y="31194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5C83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BA4A0-FFA1-41EE-80D6-846A423141B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67050" y="31194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5C83"/>
            </a:solidFill>
            <a:prstDash val="solid"/>
            <a:tailEnd type="triangle" w="med" len="med"/>
          </a:ln>
        </p:spPr>
      </p:cxnSp>
      <p:sp>
        <p:nvSpPr>
          <p:cNvPr id="20" name="titulo">
            <a:extLst xmlns:a="http://schemas.openxmlformats.org/drawingml/2006/main">
              <a:ext uri="{FF2B5EF4-FFF2-40B4-BE49-F238E27FC236}">
                <a16:creationId xmlns:a16="http://schemas.microsoft.com/office/drawing/2014/main" id="{33F8F073-63CF-48A6-902C-A14E7841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Fluxo do atendimento</a:t>
            </a:r>
          </a:p>
        </p:txBody>
      </p:sp>
      <p:sp>
        <p:nvSpPr>
          <p:cNvPr id="2" name="pagina">
            <a:extLst xmlns:a="http://schemas.openxmlformats.org/drawingml/2006/main">
              <a:ext uri="{FF2B5EF4-FFF2-40B4-BE49-F238E27FC236}">
                <a16:creationId xmlns:a16="http://schemas.microsoft.com/office/drawing/2014/main" id="{92A7252C-3269-4C47-B5BA-848F9C2F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865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etapa-0">
            <a:extLst xmlns:a="http://schemas.openxmlformats.org/drawingml/2006/main">
              <a:ext uri="{FF2B5EF4-FFF2-40B4-BE49-F238E27FC236}">
                <a16:creationId xmlns:a16="http://schemas.microsoft.com/office/drawing/2014/main" id="{5E26BFE3-03CD-464C-9918-75B79180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38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D6E1"/>
            </a:solidFill>
            <a:prstDash val="solid"/>
          </a:ln>
        </p:spPr>
      </p:sp>
      <p:sp>
        <p:nvSpPr>
          <p:cNvPr id="4" name="etapa-0-titulo">
            <a:extLst xmlns:a="http://schemas.openxmlformats.org/drawingml/2006/main">
              <a:ext uri="{FF2B5EF4-FFF2-40B4-BE49-F238E27FC236}">
                <a16:creationId xmlns:a16="http://schemas.microsoft.com/office/drawing/2014/main" id="{BBB30523-A65A-442F-977F-945C838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Recepção</a:t>
            </a:r>
          </a:p>
        </p:txBody>
      </p:sp>
      <p:sp>
        <p:nvSpPr>
          <p:cNvPr id="5" name="etapa-0-detalhe">
            <a:extLst xmlns:a="http://schemas.openxmlformats.org/drawingml/2006/main">
              <a:ext uri="{FF2B5EF4-FFF2-40B4-BE49-F238E27FC236}">
                <a16:creationId xmlns:a16="http://schemas.microsoft.com/office/drawing/2014/main" id="{0BB81E69-6573-4FA8-84AA-851A81AD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0383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Cadastro e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abertura da visita</a:t>
            </a:r>
          </a:p>
        </p:txBody>
      </p:sp>
      <p:sp>
        <p:nvSpPr>
          <p:cNvPr id="6" name="etapa-1">
            <a:extLst xmlns:a="http://schemas.openxmlformats.org/drawingml/2006/main">
              <a:ext uri="{FF2B5EF4-FFF2-40B4-BE49-F238E27FC236}">
                <a16:creationId xmlns:a16="http://schemas.microsoft.com/office/drawing/2014/main" id="{D947878B-A034-4B11-A26F-7702F499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43125"/>
            <a:ext cx="238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D6E1"/>
            </a:solidFill>
            <a:prstDash val="solid"/>
          </a:ln>
        </p:spPr>
      </p:sp>
      <p:sp>
        <p:nvSpPr>
          <p:cNvPr id="7" name="etapa-1-titulo">
            <a:extLst xmlns:a="http://schemas.openxmlformats.org/drawingml/2006/main">
              <a:ext uri="{FF2B5EF4-FFF2-40B4-BE49-F238E27FC236}">
                <a16:creationId xmlns:a16="http://schemas.microsoft.com/office/drawing/2014/main" id="{11696ED1-C811-45CF-8F54-E3233680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52675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Triagem</a:t>
            </a:r>
          </a:p>
        </p:txBody>
      </p:sp>
      <p:sp>
        <p:nvSpPr>
          <p:cNvPr id="8" name="etapa-1-detalhe">
            <a:extLst xmlns:a="http://schemas.openxmlformats.org/drawingml/2006/main">
              <a:ext uri="{FF2B5EF4-FFF2-40B4-BE49-F238E27FC236}">
                <a16:creationId xmlns:a16="http://schemas.microsoft.com/office/drawing/2014/main" id="{EE4711F2-AC1F-49D6-96A3-A02BE3A0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20383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Queixa e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classificação informada</a:t>
            </a:r>
          </a:p>
        </p:txBody>
      </p:sp>
      <p:sp>
        <p:nvSpPr>
          <p:cNvPr id="9" name="etapa-2">
            <a:extLst xmlns:a="http://schemas.openxmlformats.org/drawingml/2006/main">
              <a:ext uri="{FF2B5EF4-FFF2-40B4-BE49-F238E27FC236}">
                <a16:creationId xmlns:a16="http://schemas.microsoft.com/office/drawing/2014/main" id="{8950B893-3ED6-4695-8BCA-06CAC9BA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238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D6E1"/>
            </a:solidFill>
            <a:prstDash val="solid"/>
          </a:ln>
        </p:spPr>
      </p:sp>
      <p:sp>
        <p:nvSpPr>
          <p:cNvPr id="10" name="etapa-2-titulo">
            <a:extLst xmlns:a="http://schemas.openxmlformats.org/drawingml/2006/main">
              <a:ext uri="{FF2B5EF4-FFF2-40B4-BE49-F238E27FC236}">
                <a16:creationId xmlns:a16="http://schemas.microsoft.com/office/drawing/2014/main" id="{F1AEC4B3-B38B-4DE0-8F58-CDCA80B1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52675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Consulta</a:t>
            </a:r>
          </a:p>
        </p:txBody>
      </p:sp>
      <p:sp>
        <p:nvSpPr>
          <p:cNvPr id="11" name="etapa-2-detalhe">
            <a:extLst xmlns:a="http://schemas.openxmlformats.org/drawingml/2006/main">
              <a:ext uri="{FF2B5EF4-FFF2-40B4-BE49-F238E27FC236}">
                <a16:creationId xmlns:a16="http://schemas.microsoft.com/office/drawing/2014/main" id="{005522E8-682C-4E19-9065-C1F354E6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0383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Registro pelo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médico conectado</a:t>
            </a:r>
          </a:p>
        </p:txBody>
      </p:sp>
      <p:sp>
        <p:nvSpPr>
          <p:cNvPr id="12" name="etapa-3">
            <a:extLst xmlns:a="http://schemas.openxmlformats.org/drawingml/2006/main">
              <a:ext uri="{FF2B5EF4-FFF2-40B4-BE49-F238E27FC236}">
                <a16:creationId xmlns:a16="http://schemas.microsoft.com/office/drawing/2014/main" id="{B33D32FA-FE8C-4B23-B580-DAE6CF7F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238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D6E1"/>
            </a:solidFill>
            <a:prstDash val="solid"/>
          </a:ln>
        </p:spPr>
      </p:sp>
      <p:sp>
        <p:nvSpPr>
          <p:cNvPr id="13" name="etapa-3-titulo">
            <a:extLst xmlns:a="http://schemas.openxmlformats.org/drawingml/2006/main">
              <a:ext uri="{FF2B5EF4-FFF2-40B4-BE49-F238E27FC236}">
                <a16:creationId xmlns:a16="http://schemas.microsoft.com/office/drawing/2014/main" id="{3E8F84DF-BEA0-48AE-83E6-3EC0F953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52675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Finalização</a:t>
            </a:r>
          </a:p>
        </p:txBody>
      </p:sp>
      <p:sp>
        <p:nvSpPr>
          <p:cNvPr id="14" name="etapa-3-detalhe">
            <a:extLst xmlns:a="http://schemas.openxmlformats.org/drawingml/2006/main">
              <a:ext uri="{FF2B5EF4-FFF2-40B4-BE49-F238E27FC236}">
                <a16:creationId xmlns:a16="http://schemas.microsoft.com/office/drawing/2014/main" id="{9CF16670-494D-4BB9-B11F-7B32E96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5125"/>
            <a:ext cx="20383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Confirmação pelo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autor da consulta</a:t>
            </a:r>
          </a:p>
        </p:txBody>
      </p:sp>
      <p:sp>
        <p:nvSpPr>
          <p:cNvPr id="18" name="medicacao">
            <a:extLst xmlns:a="http://schemas.openxmlformats.org/drawingml/2006/main">
              <a:ext uri="{FF2B5EF4-FFF2-40B4-BE49-F238E27FC236}">
                <a16:creationId xmlns:a16="http://schemas.microsoft.com/office/drawing/2014/main" id="{71C263E4-6F9B-493A-B7F2-2D04F2FA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Medicações informadas podem ser registradas após a consulta e antes do encerramento.</a:t>
            </a:r>
          </a:p>
        </p:txBody>
      </p:sp>
      <p:sp>
        <p:nvSpPr>
          <p:cNvPr id="19" name="regra">
            <a:extLst xmlns:a="http://schemas.openxmlformats.org/drawingml/2006/main">
              <a:ext uri="{FF2B5EF4-FFF2-40B4-BE49-F238E27FC236}">
                <a16:creationId xmlns:a16="http://schemas.microsoft.com/office/drawing/2014/main" id="{2CBAE7CA-1737-462A-BC27-C93D3E11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Cada etapa conserva o atendimento e o profissional autenticado.</a:t>
            </a:r>
          </a:p>
        </p:txBody>
      </p:sp>
    </p:spTree>
    <p:extLst>
      <p:ext uri="{BB962C8B-B14F-4D97-AF65-F5344CB8AC3E}">
        <p14:creationId xmlns:p14="http://schemas.microsoft.com/office/powerpoint/2010/main" val="761891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ulo">
            <a:extLst xmlns:a="http://schemas.openxmlformats.org/drawingml/2006/main">
              <a:ext uri="{FF2B5EF4-FFF2-40B4-BE49-F238E27FC236}">
                <a16:creationId xmlns:a16="http://schemas.microsoft.com/office/drawing/2014/main" id="{037E9A52-8B50-4CF7-9E99-68400D8E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Perfis e permissões</a:t>
            </a:r>
          </a:p>
        </p:txBody>
      </p:sp>
      <p:sp>
        <p:nvSpPr>
          <p:cNvPr id="2" name="pagina">
            <a:extLst xmlns:a="http://schemas.openxmlformats.org/drawingml/2006/main">
              <a:ext uri="{FF2B5EF4-FFF2-40B4-BE49-F238E27FC236}">
                <a16:creationId xmlns:a16="http://schemas.microsoft.com/office/drawing/2014/main" id="{19CD96E2-32EB-486B-908D-9DA230C4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865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510B8-7A19-40FA-86AA-AB5F378C8A98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439150"/>
              </a:tblGrid>
              <a:tr h="609600">
                <a:tc>
                  <a:txBody>
                    <a:bodyPr lIns="133350" tIns="133350" rIns="133350" bIns="1333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Perfil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4D6E1"/>
                      </a:solidFill>
                      <a:prstDash val="solid"/>
                    </a:lnL>
                    <a:lnR w="9525">
                      <a:solidFill>
                        <a:srgbClr val="C4D6E1"/>
                      </a:solidFill>
                      <a:prstDash val="solid"/>
                    </a:lnR>
                    <a:lnT w="9525">
                      <a:solidFill>
                        <a:srgbClr val="C4D6E1"/>
                      </a:solidFill>
                      <a:prstDash val="solid"/>
                    </a:lnT>
                    <a:lnB w="9525">
                      <a:solidFill>
                        <a:srgbClr val="C4D6E1"/>
                      </a:solidFill>
                      <a:prstDash val="solid"/>
                    </a:lnB>
                    <a:solidFill>
                      <a:srgbClr val="115C83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Ações disponíveis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6E1"/>
                      </a:solidFill>
                      <a:prstDash val="solid"/>
                    </a:lnR>
                    <a:lnT w="9525">
                      <a:solidFill>
                        <a:srgbClr val="C4D6E1"/>
                      </a:solidFill>
                      <a:prstDash val="solid"/>
                    </a:lnT>
                    <a:lnB w="9525">
                      <a:solidFill>
                        <a:srgbClr val="C4D6E1"/>
                      </a:solidFill>
                      <a:prstDash val="solid"/>
                    </a:lnB>
                    <a:solidFill>
                      <a:srgbClr val="115C83"/>
                    </a:solidFill>
                  </a:tcPr>
                </a:tc>
              </a:tr>
              <a:tr h="971550">
                <a:tc>
                  <a:txBody>
                    <a:bodyPr lIns="133350" tIns="133350" rIns="133350" bIns="133350"/>
                    <a:lstStyle/>
                    <a:p>
                      <a:r>
                        <a:rPr sz="1950" b="1">
                          <a:solidFill>
                            <a:srgbClr val="152C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Recepção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4D6E1"/>
                      </a:solidFill>
                      <a:prstDash val="solid"/>
                    </a:lnL>
                    <a:lnR w="9525">
                      <a:solidFill>
                        <a:srgbClr val="C4D6E1"/>
                      </a:solidFill>
                      <a:prstDash val="solid"/>
                    </a:lnR>
                    <a:lnB w="9525">
                      <a:solidFill>
                        <a:srgbClr val="C4D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2C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Cadastrar e buscar paciente</a:t>
                      </a:r>
                    </a:p>
                    <a:p>
                      <a:r>
                        <a:rPr sz="1950" b="0">
                          <a:solidFill>
                            <a:srgbClr val="152C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Abrir atendimento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6E1"/>
                      </a:solidFill>
                      <a:prstDash val="solid"/>
                    </a:lnR>
                    <a:lnB w="9525">
                      <a:solidFill>
                        <a:srgbClr val="C4D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lIns="133350" tIns="133350" rIns="133350" bIns="133350"/>
                    <a:lstStyle/>
                    <a:p>
                      <a:r>
                        <a:rPr sz="1950" b="1">
                          <a:solidFill>
                            <a:srgbClr val="152C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Enfermagem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4D6E1"/>
                      </a:solidFill>
                      <a:prstDash val="solid"/>
                    </a:lnL>
                    <a:lnR w="9525">
                      <a:solidFill>
                        <a:srgbClr val="C4D6E1"/>
                      </a:solidFill>
                      <a:prstDash val="solid"/>
                    </a:lnR>
                    <a:lnB w="9525">
                      <a:solidFill>
                        <a:srgbClr val="C4D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2C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 triagem e classificação</a:t>
                      </a:r>
                    </a:p>
                    <a:p>
                      <a:r>
                        <a:rPr sz="1950" b="0">
                          <a:solidFill>
                            <a:srgbClr val="152C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Consultar resumo e registrar medicação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6E1"/>
                      </a:solidFill>
                      <a:prstDash val="solid"/>
                    </a:lnR>
                    <a:lnB w="9525">
                      <a:solidFill>
                        <a:srgbClr val="C4D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lIns="133350" tIns="133350" rIns="133350" bIns="133350"/>
                    <a:lstStyle/>
                    <a:p>
                      <a:r>
                        <a:rPr sz="1950" b="1">
                          <a:solidFill>
                            <a:srgbClr val="152C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Médico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4D6E1"/>
                      </a:solidFill>
                      <a:prstDash val="solid"/>
                    </a:lnL>
                    <a:lnR w="9525">
                      <a:solidFill>
                        <a:srgbClr val="C4D6E1"/>
                      </a:solidFill>
                      <a:prstDash val="solid"/>
                    </a:lnR>
                    <a:lnB w="9525">
                      <a:solidFill>
                        <a:srgbClr val="C4D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2C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Consultar fila e resumo após triagem</a:t>
                      </a:r>
                    </a:p>
                    <a:p>
                      <a:r>
                        <a:rPr sz="1950" b="0">
                          <a:solidFill>
                            <a:srgbClr val="152C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 consulta e encerrar a própria consulta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6E1"/>
                      </a:solidFill>
                      <a:prstDash val="solid"/>
                    </a:lnR>
                    <a:lnB w="9525">
                      <a:solidFill>
                        <a:srgbClr val="C4D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permissoes">
            <a:extLst xmlns:a="http://schemas.openxmlformats.org/drawingml/2006/main">
              <a:ext uri="{FF2B5EF4-FFF2-40B4-BE49-F238E27FC236}">
                <a16:creationId xmlns:a16="http://schemas.microsoft.com/office/drawing/2014/main" id="{2EA64E55-2E4C-4ED5-9160-E333A907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O servidor verifica a permissão em cada operação, mesmo sem o botão na tela.</a:t>
            </a:r>
          </a:p>
        </p:txBody>
      </p:sp>
    </p:spTree>
    <p:extLst>
      <p:ext uri="{BB962C8B-B14F-4D97-AF65-F5344CB8AC3E}">
        <p14:creationId xmlns:p14="http://schemas.microsoft.com/office/powerpoint/2010/main" val="20417839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CD7F3-6233-4323-971C-7EF971254B0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67625" y="297656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5C83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DED20-358A-4AB5-994C-E8C319D2FEA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29050" y="297656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5C83"/>
            </a:solidFill>
            <a:prstDash val="solid"/>
            <a:tailEnd type="triangle" w="med" len="med"/>
          </a:ln>
        </p:spPr>
      </p:cxnSp>
      <p:sp>
        <p:nvSpPr>
          <p:cNvPr id="16" name="titulo">
            <a:extLst xmlns:a="http://schemas.openxmlformats.org/drawingml/2006/main">
              <a:ext uri="{FF2B5EF4-FFF2-40B4-BE49-F238E27FC236}">
                <a16:creationId xmlns:a16="http://schemas.microsoft.com/office/drawing/2014/main" id="{46EF6114-CBF0-4CE0-8BB2-F63A7AC4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Arquitetura implementada</a:t>
            </a:r>
          </a:p>
        </p:txBody>
      </p:sp>
      <p:sp>
        <p:nvSpPr>
          <p:cNvPr id="2" name="pagina">
            <a:extLst xmlns:a="http://schemas.openxmlformats.org/drawingml/2006/main">
              <a:ext uri="{FF2B5EF4-FFF2-40B4-BE49-F238E27FC236}">
                <a16:creationId xmlns:a16="http://schemas.microsoft.com/office/drawing/2014/main" id="{A7D23DE0-13E0-415A-867C-5C2F427B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865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navegador">
            <a:extLst xmlns:a="http://schemas.openxmlformats.org/drawingml/2006/main">
              <a:ext uri="{FF2B5EF4-FFF2-40B4-BE49-F238E27FC236}">
                <a16:creationId xmlns:a16="http://schemas.microsoft.com/office/drawing/2014/main" id="{9E82A270-BD9E-4BF2-A7A0-494929D1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D6E1"/>
            </a:solidFill>
            <a:prstDash val="solid"/>
          </a:ln>
        </p:spPr>
      </p:sp>
      <p:sp>
        <p:nvSpPr>
          <p:cNvPr id="4" name="navegador-titulo">
            <a:extLst xmlns:a="http://schemas.openxmlformats.org/drawingml/2006/main">
              <a:ext uri="{FF2B5EF4-FFF2-40B4-BE49-F238E27FC236}">
                <a16:creationId xmlns:a16="http://schemas.microsoft.com/office/drawing/2014/main" id="{DB12479A-A1EF-499B-8B9A-C0AA8692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Navegador</a:t>
            </a:r>
          </a:p>
        </p:txBody>
      </p:sp>
      <p:sp>
        <p:nvSpPr>
          <p:cNvPr id="5" name="navegador-detalhe">
            <a:extLst xmlns:a="http://schemas.openxmlformats.org/drawingml/2006/main">
              <a:ext uri="{FF2B5EF4-FFF2-40B4-BE49-F238E27FC236}">
                <a16:creationId xmlns:a16="http://schemas.microsoft.com/office/drawing/2014/main" id="{6FDFE8FA-A56B-4311-A964-DC108FDF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8003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HTML, CSS e JavaScript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Telas compartilhadas</a:t>
            </a:r>
          </a:p>
        </p:txBody>
      </p:sp>
      <p:sp>
        <p:nvSpPr>
          <p:cNvPr id="6" name="servidor">
            <a:extLst xmlns:a="http://schemas.openxmlformats.org/drawingml/2006/main">
              <a:ext uri="{FF2B5EF4-FFF2-40B4-BE49-F238E27FC236}">
                <a16:creationId xmlns:a16="http://schemas.microsoft.com/office/drawing/2014/main" id="{DFFB0858-A101-457D-8772-FB174574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D6E1"/>
            </a:solidFill>
            <a:prstDash val="solid"/>
          </a:ln>
        </p:spPr>
      </p:sp>
      <p:sp>
        <p:nvSpPr>
          <p:cNvPr id="7" name="servidor-titulo">
            <a:extLst xmlns:a="http://schemas.openxmlformats.org/drawingml/2006/main">
              <a:ext uri="{FF2B5EF4-FFF2-40B4-BE49-F238E27FC236}">
                <a16:creationId xmlns:a16="http://schemas.microsoft.com/office/drawing/2014/main" id="{5B4B7AB1-EABA-4F7D-A611-5BC8B773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098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Servidor Node.js</a:t>
            </a:r>
          </a:p>
        </p:txBody>
      </p:sp>
      <p:sp>
        <p:nvSpPr>
          <p:cNvPr id="8" name="servidor-detalhe">
            <a:extLst xmlns:a="http://schemas.openxmlformats.org/drawingml/2006/main">
              <a:ext uri="{FF2B5EF4-FFF2-40B4-BE49-F238E27FC236}">
                <a16:creationId xmlns:a16="http://schemas.microsoft.com/office/drawing/2014/main" id="{DA78AA91-24FB-4E48-83AC-46DB395B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62250"/>
            <a:ext cx="28003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Sessão e permissões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Validação do fluxo</a:t>
            </a:r>
          </a:p>
        </p:txBody>
      </p:sp>
      <p:sp>
        <p:nvSpPr>
          <p:cNvPr id="9" name="banco">
            <a:extLst xmlns:a="http://schemas.openxmlformats.org/drawingml/2006/main">
              <a:ext uri="{FF2B5EF4-FFF2-40B4-BE49-F238E27FC236}">
                <a16:creationId xmlns:a16="http://schemas.microsoft.com/office/drawing/2014/main" id="{C7D7EC5D-AC8B-4D5A-A4FE-5E2AC1B4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D6E1"/>
            </a:solidFill>
            <a:prstDash val="solid"/>
          </a:ln>
        </p:spPr>
      </p:sp>
      <p:sp>
        <p:nvSpPr>
          <p:cNvPr id="10" name="banco-titulo">
            <a:extLst xmlns:a="http://schemas.openxmlformats.org/drawingml/2006/main">
              <a:ext uri="{FF2B5EF4-FFF2-40B4-BE49-F238E27FC236}">
                <a16:creationId xmlns:a16="http://schemas.microsoft.com/office/drawing/2014/main" id="{25483D3D-77F5-4305-8D90-8903BBB8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098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MySQL</a:t>
            </a:r>
          </a:p>
        </p:txBody>
      </p:sp>
      <p:sp>
        <p:nvSpPr>
          <p:cNvPr id="11" name="banco-detalhe">
            <a:extLst xmlns:a="http://schemas.openxmlformats.org/drawingml/2006/main">
              <a:ext uri="{FF2B5EF4-FFF2-40B4-BE49-F238E27FC236}">
                <a16:creationId xmlns:a16="http://schemas.microsoft.com/office/drawing/2014/main" id="{8EA72F1A-E024-4B21-BD1A-A25F0A2B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8003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Sete tabelas relacionadas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Transações e restrições</a:t>
            </a:r>
          </a:p>
        </p:txBody>
      </p:sp>
      <p:sp>
        <p:nvSpPr>
          <p:cNvPr id="14" name="rastreio">
            <a:extLst xmlns:a="http://schemas.openxmlformats.org/drawingml/2006/main">
              <a:ext uri="{FF2B5EF4-FFF2-40B4-BE49-F238E27FC236}">
                <a16:creationId xmlns:a16="http://schemas.microsoft.com/office/drawing/2014/main" id="{A123313D-D9FA-408C-BD91-AEFE1D2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38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Uma tentativa repetida com os mesmos dados retorna o registro existente, sem criar uma cópia.</a:t>
            </a:r>
          </a:p>
        </p:txBody>
      </p:sp>
      <p:sp>
        <p:nvSpPr>
          <p:cNvPr id="15" name="seguranca">
            <a:extLst xmlns:a="http://schemas.openxmlformats.org/drawingml/2006/main">
              <a:ext uri="{FF2B5EF4-FFF2-40B4-BE49-F238E27FC236}">
                <a16:creationId xmlns:a16="http://schemas.microsoft.com/office/drawing/2014/main" id="{A3FE0F6F-DC9D-4E86-8F4F-8F1B5D62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Senha com hash e salt. Consultas com parâmetros. Sessão em memória.</a:t>
            </a:r>
          </a:p>
        </p:txBody>
      </p:sp>
    </p:spTree>
    <p:extLst>
      <p:ext uri="{BB962C8B-B14F-4D97-AF65-F5344CB8AC3E}">
        <p14:creationId xmlns:p14="http://schemas.microsoft.com/office/powerpoint/2010/main" val="18349625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7A1D8901-50D0-47C5-9C4F-468C903C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Exemplo para a demonstração</a:t>
            </a:r>
          </a:p>
        </p:txBody>
      </p:sp>
      <p:sp>
        <p:nvSpPr>
          <p:cNvPr id="2" name="pagina">
            <a:extLst xmlns:a="http://schemas.openxmlformats.org/drawingml/2006/main">
              <a:ext uri="{FF2B5EF4-FFF2-40B4-BE49-F238E27FC236}">
                <a16:creationId xmlns:a16="http://schemas.microsoft.com/office/drawing/2014/main" id="{3356D52A-46C1-4055-96E0-5CD3B83E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865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numero-01">
            <a:extLst xmlns:a="http://schemas.openxmlformats.org/drawingml/2006/main">
              <a:ext uri="{FF2B5EF4-FFF2-40B4-BE49-F238E27FC236}">
                <a16:creationId xmlns:a16="http://schemas.microsoft.com/office/drawing/2014/main" id="{F43936C3-56F8-44EC-AC38-804908F7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perfil-01">
            <a:extLst xmlns:a="http://schemas.openxmlformats.org/drawingml/2006/main">
              <a:ext uri="{FF2B5EF4-FFF2-40B4-BE49-F238E27FC236}">
                <a16:creationId xmlns:a16="http://schemas.microsoft.com/office/drawing/2014/main" id="{17ACBB25-3742-45FC-B666-A21B8109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7335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Recepção</a:t>
            </a:r>
          </a:p>
        </p:txBody>
      </p:sp>
      <p:sp>
        <p:nvSpPr>
          <p:cNvPr id="5" name="acao-01">
            <a:extLst xmlns:a="http://schemas.openxmlformats.org/drawingml/2006/main">
              <a:ext uri="{FF2B5EF4-FFF2-40B4-BE49-F238E27FC236}">
                <a16:creationId xmlns:a16="http://schemas.microsoft.com/office/drawing/2014/main" id="{0131819A-23D0-48E2-80CD-E1EDFD6A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33550"/>
            <a:ext cx="769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Cadastrar Paciente Demonstração e abrir uma visita.</a:t>
            </a:r>
          </a:p>
        </p:txBody>
      </p:sp>
      <p:sp>
        <p:nvSpPr>
          <p:cNvPr id="6" name="numero-02">
            <a:extLst xmlns:a="http://schemas.openxmlformats.org/drawingml/2006/main">
              <a:ext uri="{FF2B5EF4-FFF2-40B4-BE49-F238E27FC236}">
                <a16:creationId xmlns:a16="http://schemas.microsoft.com/office/drawing/2014/main" id="{A8657C7A-6855-49FA-865B-0E686943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perfil-02">
            <a:extLst xmlns:a="http://schemas.openxmlformats.org/drawingml/2006/main">
              <a:ext uri="{FF2B5EF4-FFF2-40B4-BE49-F238E27FC236}">
                <a16:creationId xmlns:a16="http://schemas.microsoft.com/office/drawing/2014/main" id="{CFA8B775-CEC1-4E35-A144-7561A78B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2412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Enfermagem</a:t>
            </a:r>
          </a:p>
        </p:txBody>
      </p:sp>
      <p:sp>
        <p:nvSpPr>
          <p:cNvPr id="8" name="acao-02">
            <a:extLst xmlns:a="http://schemas.openxmlformats.org/drawingml/2006/main">
              <a:ext uri="{FF2B5EF4-FFF2-40B4-BE49-F238E27FC236}">
                <a16:creationId xmlns:a16="http://schemas.microsoft.com/office/drawing/2014/main" id="{ADEA356A-0CAD-430B-8544-8F94E586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24125"/>
            <a:ext cx="769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Registrar queixa fictícia e classificação informada.</a:t>
            </a:r>
          </a:p>
        </p:txBody>
      </p:sp>
      <p:sp>
        <p:nvSpPr>
          <p:cNvPr id="9" name="numero-03">
            <a:extLst xmlns:a="http://schemas.openxmlformats.org/drawingml/2006/main">
              <a:ext uri="{FF2B5EF4-FFF2-40B4-BE49-F238E27FC236}">
                <a16:creationId xmlns:a16="http://schemas.microsoft.com/office/drawing/2014/main" id="{CB808546-4C15-45F9-B66D-0CCD81D1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perfil-03">
            <a:extLst xmlns:a="http://schemas.openxmlformats.org/drawingml/2006/main">
              <a:ext uri="{FF2B5EF4-FFF2-40B4-BE49-F238E27FC236}">
                <a16:creationId xmlns:a16="http://schemas.microsoft.com/office/drawing/2014/main" id="{2DC20B9C-0E55-424F-A3B7-B6E8F61E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147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Médico</a:t>
            </a:r>
          </a:p>
        </p:txBody>
      </p:sp>
      <p:sp>
        <p:nvSpPr>
          <p:cNvPr id="11" name="acao-03">
            <a:extLst xmlns:a="http://schemas.openxmlformats.org/drawingml/2006/main">
              <a:ext uri="{FF2B5EF4-FFF2-40B4-BE49-F238E27FC236}">
                <a16:creationId xmlns:a16="http://schemas.microsoft.com/office/drawing/2014/main" id="{DC5F913D-B0D5-4655-B354-5D025DE6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14700"/>
            <a:ext cx="769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Consultar o resumo e salvar uma consulta fictícia.</a:t>
            </a:r>
          </a:p>
        </p:txBody>
      </p:sp>
      <p:sp>
        <p:nvSpPr>
          <p:cNvPr id="12" name="numero-04">
            <a:extLst xmlns:a="http://schemas.openxmlformats.org/drawingml/2006/main">
              <a:ext uri="{FF2B5EF4-FFF2-40B4-BE49-F238E27FC236}">
                <a16:creationId xmlns:a16="http://schemas.microsoft.com/office/drawing/2014/main" id="{AA9284E7-573C-4757-B126-B78A3545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perfil-04">
            <a:extLst xmlns:a="http://schemas.openxmlformats.org/drawingml/2006/main">
              <a:ext uri="{FF2B5EF4-FFF2-40B4-BE49-F238E27FC236}">
                <a16:creationId xmlns:a16="http://schemas.microsoft.com/office/drawing/2014/main" id="{BF0CD8AE-4B75-41F9-A07D-4CF2A306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0527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Enfermagem</a:t>
            </a:r>
          </a:p>
        </p:txBody>
      </p:sp>
      <p:sp>
        <p:nvSpPr>
          <p:cNvPr id="14" name="acao-04">
            <a:extLst xmlns:a="http://schemas.openxmlformats.org/drawingml/2006/main">
              <a:ext uri="{FF2B5EF4-FFF2-40B4-BE49-F238E27FC236}">
                <a16:creationId xmlns:a16="http://schemas.microsoft.com/office/drawing/2014/main" id="{0BEE1596-DF1D-4783-9B3C-A5B591C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05275"/>
            <a:ext cx="769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Registrar os textos fictícios de medicação, dose e via.</a:t>
            </a:r>
          </a:p>
        </p:txBody>
      </p:sp>
      <p:sp>
        <p:nvSpPr>
          <p:cNvPr id="15" name="numero-05">
            <a:extLst xmlns:a="http://schemas.openxmlformats.org/drawingml/2006/main">
              <a:ext uri="{FF2B5EF4-FFF2-40B4-BE49-F238E27FC236}">
                <a16:creationId xmlns:a16="http://schemas.microsoft.com/office/drawing/2014/main" id="{B552AB24-6820-4FB3-B188-20119EA5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6" name="perfil-05">
            <a:extLst xmlns:a="http://schemas.openxmlformats.org/drawingml/2006/main">
              <a:ext uri="{FF2B5EF4-FFF2-40B4-BE49-F238E27FC236}">
                <a16:creationId xmlns:a16="http://schemas.microsoft.com/office/drawing/2014/main" id="{B225B4DF-BFFE-474F-8B5A-A359D5EB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958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Médico</a:t>
            </a:r>
          </a:p>
        </p:txBody>
      </p:sp>
      <p:sp>
        <p:nvSpPr>
          <p:cNvPr id="17" name="acao-05">
            <a:extLst xmlns:a="http://schemas.openxmlformats.org/drawingml/2006/main">
              <a:ext uri="{FF2B5EF4-FFF2-40B4-BE49-F238E27FC236}">
                <a16:creationId xmlns:a16="http://schemas.microsoft.com/office/drawing/2014/main" id="{8C6122FE-EA21-4FCA-8355-486B4552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69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Confirmar encerramento e conferir a situação final.</a:t>
            </a:r>
          </a:p>
        </p:txBody>
      </p:sp>
    </p:spTree>
    <p:extLst>
      <p:ext uri="{BB962C8B-B14F-4D97-AF65-F5344CB8AC3E}">
        <p14:creationId xmlns:p14="http://schemas.microsoft.com/office/powerpoint/2010/main" val="1861614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ulo">
            <a:extLst xmlns:a="http://schemas.openxmlformats.org/drawingml/2006/main">
              <a:ext uri="{FF2B5EF4-FFF2-40B4-BE49-F238E27FC236}">
                <a16:creationId xmlns:a16="http://schemas.microsoft.com/office/drawing/2014/main" id="{EEFCA373-7038-4E7F-B349-013959E6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Resultados e limites</a:t>
            </a:r>
          </a:p>
        </p:txBody>
      </p:sp>
      <p:sp>
        <p:nvSpPr>
          <p:cNvPr id="2" name="pagina">
            <a:extLst xmlns:a="http://schemas.openxmlformats.org/drawingml/2006/main">
              <a:ext uri="{FF2B5EF4-FFF2-40B4-BE49-F238E27FC236}">
                <a16:creationId xmlns:a16="http://schemas.microsoft.com/office/drawing/2014/main" id="{636E38C7-7C03-4285-8CD5-3241226C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865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resultado">
            <a:extLst xmlns:a="http://schemas.openxmlformats.org/drawingml/2006/main">
              <a:ext uri="{FF2B5EF4-FFF2-40B4-BE49-F238E27FC236}">
                <a16:creationId xmlns:a16="http://schemas.microsoft.com/office/drawing/2014/main" id="{7DD9F559-57FD-4B14-879A-A185093B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15C83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15C83"/>
                </a:solidFill>
                <a:latin typeface="DejaVu Sans"/>
                <a:ea typeface="DejaVu Sans"/>
                <a:cs typeface="DejaVu Sans"/>
              </a:rPr>
              <a:t>O fluxo completo passou pelos cenários de teste executados.</a:t>
            </a:r>
          </a:p>
        </p:txBody>
      </p:sp>
      <p:sp>
        <p:nvSpPr>
          <p:cNvPr id="4" name="numeros">
            <a:extLst xmlns:a="http://schemas.openxmlformats.org/drawingml/2006/main">
              <a:ext uri="{FF2B5EF4-FFF2-40B4-BE49-F238E27FC236}">
                <a16:creationId xmlns:a16="http://schemas.microsoft.com/office/drawing/2014/main" id="{29C57DBA-BBDF-465D-B9C0-19C8F229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382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32 testes unitários</a:t>
            </a:r>
          </a:p>
          <a:p xmlns:a="http://schemas.openxmlformats.org/drawingml/2006/main">
            <a: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33 testes e subtestes com MySQL</a:t>
            </a:r>
          </a:p>
          <a:p xmlns:a="http://schemas.openxmlformats.org/drawingml/2006/main">
            <a:pPr>
              <a:def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C40"/>
                </a:solidFill>
                <a:latin typeface="DejaVu Sans"/>
                <a:ea typeface="DejaVu Sans"/>
                <a:cs typeface="DejaVu Sans"/>
              </a:rPr>
              <a:t>16 verificações no navegador</a:t>
            </a:r>
          </a:p>
        </p:txBody>
      </p:sp>
      <p:sp>
        <p:nvSpPr>
          <p:cNvPr id="5" name="pendencias">
            <a:extLst xmlns:a="http://schemas.openxmlformats.org/drawingml/2006/main">
              <a:ext uri="{FF2B5EF4-FFF2-40B4-BE49-F238E27FC236}">
                <a16:creationId xmlns:a16="http://schemas.microsoft.com/office/drawing/2014/main" id="{BC040B09-B852-42F0-BB98-94EBE0C5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65B6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65B6C"/>
                </a:solidFill>
                <a:latin typeface="DejaVu Sans"/>
                <a:ea typeface="DejaVu Sans"/>
                <a:cs typeface="DejaVu Sans"/>
              </a:rPr>
              <a:t>A conferência com os requisitos completos e o MER original, o ensaio e o teste no computador da apresentação continuam pendentes.</a:t>
            </a:r>
          </a:p>
        </p:txBody>
      </p:sp>
    </p:spTree>
    <p:extLst>
      <p:ext uri="{BB962C8B-B14F-4D97-AF65-F5344CB8AC3E}">
        <p14:creationId xmlns:p14="http://schemas.microsoft.com/office/powerpoint/2010/main" val="1693665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2026-10-28T19:26:38.8650000Z</dcterms:created>
  <dcterms:modified xsi:type="dcterms:W3CDTF">2026-10-28T19:26:38.8660000Z</dcterms:modified>
</coreProperties>
</file>